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AADD7"/>
    <a:srgbClr val="53B5D6"/>
    <a:srgbClr val="0093D8"/>
    <a:srgbClr val="0081BD"/>
    <a:srgbClr val="000000"/>
    <a:srgbClr val="0279AF"/>
    <a:srgbClr val="0093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48"/>
  </p:normalViewPr>
  <p:slideViewPr>
    <p:cSldViewPr snapToGrid="0" snapToObjects="1">
      <p:cViewPr varScale="1">
        <p:scale>
          <a:sx n="117" d="100"/>
          <a:sy n="117" d="100"/>
        </p:scale>
        <p:origin x="36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CDBB8-E418-7D43-A5B1-50E3082A6CC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D99357E-E15D-8746-9A26-C051F4948E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CC5164-C4A9-4146-9A18-D478DAD8CA9E}"/>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5B6BF1C4-3C36-154F-9A0C-8CCC6EF00EF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E9CD4B8-B647-D04F-AD56-A9360A0B461C}"/>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442195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C4338-0789-D34D-8EC0-9C0A8EECA1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CF127B0-609D-5E4A-94FB-2C7C01EF95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FF175-3F0C-A449-B7A7-C8AEF036FC69}"/>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6F6872BA-121E-434E-B534-D19676FEBC1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1FD3594-9661-CB49-931D-7C6951D80629}"/>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980912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6F047-0314-CA49-BE93-B10546C719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8955F8A-36DB-3045-8E11-E5121DCD76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5C40916-4C23-7340-9798-2B3107CB05ED}"/>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7475E450-EFBA-2C43-9FBB-DCB8EC741B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4AD4F2F-BD7B-A445-9416-C4A40D332E36}"/>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12080882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4F84-5B85-EE44-AC8F-FD5CE42F54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92634-DC9E-6A40-981D-6601BE118ED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1CB214-92DA-1347-B1CE-701FADE8EB5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56D8E70-C66C-AD4E-A2DE-519B51A57F28}"/>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6" name="Footer Placeholder 5">
            <a:extLst>
              <a:ext uri="{FF2B5EF4-FFF2-40B4-BE49-F238E27FC236}">
                <a16:creationId xmlns:a16="http://schemas.microsoft.com/office/drawing/2014/main" id="{95EA2458-6C72-CB4D-AF92-9B927A7F889E}"/>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F98CC74-028F-6B43-AD7E-40E48D413CD1}"/>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597118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A962-7718-DD4E-AEBE-5E2E7B9DE6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93BCB-9055-4144-A954-F70F4A9AE7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6C354EB-4507-084A-9A12-A2739357FD5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BC3C5D-384C-294F-86A9-CDF73035EC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BAE10E7-FD6E-E54C-BDB3-95995D776D8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46CF96C-0C40-EC47-BC81-D65371961E00}"/>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8" name="Footer Placeholder 7">
            <a:extLst>
              <a:ext uri="{FF2B5EF4-FFF2-40B4-BE49-F238E27FC236}">
                <a16:creationId xmlns:a16="http://schemas.microsoft.com/office/drawing/2014/main" id="{4C885601-FC75-7347-AFEC-51C6B584805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F507C02-4455-6C43-A087-AAC4C52B4A94}"/>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242445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752F8-30C0-9C41-8BE7-4A1C010C5F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7255BB-4905-1B46-934C-605295045CE8}"/>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4" name="Footer Placeholder 3">
            <a:extLst>
              <a:ext uri="{FF2B5EF4-FFF2-40B4-BE49-F238E27FC236}">
                <a16:creationId xmlns:a16="http://schemas.microsoft.com/office/drawing/2014/main" id="{72A685C6-1492-4F43-B0A5-90A1DF1E3C3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3949D78-A1D9-B14E-A229-D5A353D5A4F2}"/>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753257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E92BB9-33AF-5747-A0AF-73875EB9E376}"/>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3" name="Footer Placeholder 2">
            <a:extLst>
              <a:ext uri="{FF2B5EF4-FFF2-40B4-BE49-F238E27FC236}">
                <a16:creationId xmlns:a16="http://schemas.microsoft.com/office/drawing/2014/main" id="{73A609FC-0893-154A-9D4F-248175F32DE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6C3C3521-DC25-E24B-99D9-FCB979C4EDDB}"/>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924830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0D4CE-BA49-4643-B126-9CE08AEE40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C6714A0-4B91-F34D-AEC8-05898DB08B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1A1F87F-4054-4A4E-83E1-15A47A0CCD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AADAF1B-D858-2A4C-9C2C-D7C385E54FAC}"/>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6" name="Footer Placeholder 5">
            <a:extLst>
              <a:ext uri="{FF2B5EF4-FFF2-40B4-BE49-F238E27FC236}">
                <a16:creationId xmlns:a16="http://schemas.microsoft.com/office/drawing/2014/main" id="{C03D7D44-C760-1B48-B909-E1A1260B755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38D4E4F-75A5-8E4C-ADCD-2D37F7684C55}"/>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26393405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6AE98-C170-4743-B729-94192C581E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4AF6EB2-A0BC-D546-B15E-753991A6E6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B9D25028-EC26-D340-914E-05B334FC0E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09FFFCC-A495-C14E-AF34-1B308B9A28A2}"/>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6" name="Footer Placeholder 5">
            <a:extLst>
              <a:ext uri="{FF2B5EF4-FFF2-40B4-BE49-F238E27FC236}">
                <a16:creationId xmlns:a16="http://schemas.microsoft.com/office/drawing/2014/main" id="{0FB2CF3D-978A-EE4B-A88C-3E40287968E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F498FC8-66CA-1A4C-A10B-5E8C1F1ED543}"/>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788995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3E86B-BC47-7946-BA7A-E93DC90F71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A68AF72-B13F-C24B-96B5-BD17FB4502C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6B0DF-F7E7-C646-8C8E-133619D52106}"/>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89821B78-2308-864A-BCBB-58E687E2AD2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73CF02E-B360-4941-B47E-D98FD4601AB2}"/>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4234383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C1F36A-0850-0E42-A48A-F40D43D4D33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E214E33-429E-AC42-B4D7-CF758B3999B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911129-7A1F-3641-BEBF-274DFA05C7A9}"/>
              </a:ext>
            </a:extLst>
          </p:cNvPr>
          <p:cNvSpPr>
            <a:spLocks noGrp="1"/>
          </p:cNvSpPr>
          <p:nvPr>
            <p:ph type="dt" sz="half" idx="10"/>
          </p:nvPr>
        </p:nvSpPr>
        <p:spPr/>
        <p:txBody>
          <a:body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91B39238-E2CD-C14A-956C-AC94B1EE23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58A6C2C-C948-2A4B-AA41-F89750A579FC}"/>
              </a:ext>
            </a:extLst>
          </p:cNvPr>
          <p:cNvSpPr>
            <a:spLocks noGrp="1"/>
          </p:cNvSpPr>
          <p:nvPr>
            <p:ph type="sldNum" sz="quarter" idx="12"/>
          </p:nvPr>
        </p:nvSpPr>
        <p:spPr/>
        <p:txBody>
          <a:bodyPr/>
          <a:lstStyle/>
          <a:p>
            <a:fld id="{6855DEB7-F703-E94A-87E4-F68E85695259}" type="slidenum">
              <a:rPr lang="en-US" smtClean="0"/>
              <a:t>‹#›</a:t>
            </a:fld>
            <a:endParaRPr lang="en-US" dirty="0"/>
          </a:p>
        </p:txBody>
      </p:sp>
    </p:spTree>
    <p:extLst>
      <p:ext uri="{BB962C8B-B14F-4D97-AF65-F5344CB8AC3E}">
        <p14:creationId xmlns:p14="http://schemas.microsoft.com/office/powerpoint/2010/main" val="33710437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D827C7-116A-8349-BC65-DA42EF87D4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CF861F-2B4B-6B48-B6C7-9D717406A7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A1C503-B19F-3D4B-9254-AC2B6CEFE64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F169F0-5795-5646-ACD8-3428A29126E9}" type="datetimeFigureOut">
              <a:rPr lang="en-US" smtClean="0"/>
              <a:t>6/4/25</a:t>
            </a:fld>
            <a:endParaRPr lang="en-US" dirty="0"/>
          </a:p>
        </p:txBody>
      </p:sp>
      <p:sp>
        <p:nvSpPr>
          <p:cNvPr id="5" name="Footer Placeholder 4">
            <a:extLst>
              <a:ext uri="{FF2B5EF4-FFF2-40B4-BE49-F238E27FC236}">
                <a16:creationId xmlns:a16="http://schemas.microsoft.com/office/drawing/2014/main" id="{424D6270-E478-2F41-B5A5-81B47EFDC0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66C2731-104B-4641-86C4-59E45E5B04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55DEB7-F703-E94A-87E4-F68E85695259}" type="slidenum">
              <a:rPr lang="en-US" smtClean="0"/>
              <a:t>‹#›</a:t>
            </a:fld>
            <a:endParaRPr lang="en-US" dirty="0"/>
          </a:p>
        </p:txBody>
      </p:sp>
    </p:spTree>
    <p:extLst>
      <p:ext uri="{BB962C8B-B14F-4D97-AF65-F5344CB8AC3E}">
        <p14:creationId xmlns:p14="http://schemas.microsoft.com/office/powerpoint/2010/main" val="2478956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B3EED9D4-3106-F389-5C7D-9C81ECE59B8A}"/>
              </a:ext>
            </a:extLst>
          </p:cNvPr>
          <p:cNvGrpSpPr/>
          <p:nvPr/>
        </p:nvGrpSpPr>
        <p:grpSpPr>
          <a:xfrm>
            <a:off x="595021" y="421845"/>
            <a:ext cx="6077922" cy="3007155"/>
            <a:chOff x="2923083" y="772539"/>
            <a:chExt cx="2628632" cy="1300560"/>
          </a:xfrm>
        </p:grpSpPr>
        <p:pic>
          <p:nvPicPr>
            <p:cNvPr id="5" name="Graphic 7">
              <a:extLst>
                <a:ext uri="{FF2B5EF4-FFF2-40B4-BE49-F238E27FC236}">
                  <a16:creationId xmlns:a16="http://schemas.microsoft.com/office/drawing/2014/main" id="{5E995E62-32CF-8E0F-9DAE-5B6C325EE6A8}"/>
                </a:ext>
              </a:extLst>
            </p:cNvPr>
            <p:cNvPicPr>
              <a:picLocks noChangeAspect="1"/>
            </p:cNvPicPr>
            <p:nvPr/>
          </p:nvPicPr>
          <p:blipFill>
            <a:blip r:embed="rId2">
              <a:grayscl/>
            </a:blip>
            <a:srcRect/>
            <a:stretch/>
          </p:blipFill>
          <p:spPr>
            <a:xfrm>
              <a:off x="3825374" y="772539"/>
              <a:ext cx="946747" cy="445185"/>
            </a:xfrm>
            <a:prstGeom prst="rect">
              <a:avLst/>
            </a:prstGeom>
          </p:spPr>
        </p:pic>
        <p:sp>
          <p:nvSpPr>
            <p:cNvPr id="6" name="TextBox 5">
              <a:extLst>
                <a:ext uri="{FF2B5EF4-FFF2-40B4-BE49-F238E27FC236}">
                  <a16:creationId xmlns:a16="http://schemas.microsoft.com/office/drawing/2014/main" id="{C7D95B8E-F760-BD49-A8A2-F06F0CAFBE3E}"/>
                </a:ext>
              </a:extLst>
            </p:cNvPr>
            <p:cNvSpPr txBox="1"/>
            <p:nvPr/>
          </p:nvSpPr>
          <p:spPr>
            <a:xfrm>
              <a:off x="3072244" y="1500727"/>
              <a:ext cx="2305478" cy="572372"/>
            </a:xfrm>
            <a:prstGeom prst="rect">
              <a:avLst/>
            </a:prstGeom>
            <a:noFill/>
          </p:spPr>
          <p:txBody>
            <a:bodyPr wrap="square" rtlCol="0">
              <a:spAutoFit/>
            </a:bodyPr>
            <a:lstStyle/>
            <a:p>
              <a:r>
                <a:rPr lang="en-US" sz="8000" b="1" dirty="0">
                  <a:solidFill>
                    <a:srgbClr val="5AADD7"/>
                  </a:solidFill>
                  <a:latin typeface="DIN Condensed" pitchFamily="2" charset="0"/>
                  <a:ea typeface="Arial Unicode MS" panose="020B0604020202020204" pitchFamily="34" charset="-128"/>
                  <a:cs typeface="Times New Roman" panose="02020603050405020304" pitchFamily="18" charset="0"/>
                </a:rPr>
                <a:t>Complexity</a:t>
              </a:r>
            </a:p>
          </p:txBody>
        </p:sp>
        <p:sp>
          <p:nvSpPr>
            <p:cNvPr id="7" name="TextBox 6">
              <a:extLst>
                <a:ext uri="{FF2B5EF4-FFF2-40B4-BE49-F238E27FC236}">
                  <a16:creationId xmlns:a16="http://schemas.microsoft.com/office/drawing/2014/main" id="{1D905D23-0FC8-D308-8643-269C8EAACFE7}"/>
                </a:ext>
              </a:extLst>
            </p:cNvPr>
            <p:cNvSpPr txBox="1"/>
            <p:nvPr/>
          </p:nvSpPr>
          <p:spPr>
            <a:xfrm>
              <a:off x="2923083" y="1044972"/>
              <a:ext cx="2628632" cy="625616"/>
            </a:xfrm>
            <a:prstGeom prst="rect">
              <a:avLst/>
            </a:prstGeom>
            <a:noFill/>
          </p:spPr>
          <p:txBody>
            <a:bodyPr wrap="square" rtlCol="0">
              <a:spAutoFit/>
            </a:bodyPr>
            <a:lstStyle/>
            <a:p>
              <a:r>
                <a:rPr lang="en-US" sz="8800" b="1" dirty="0">
                  <a:solidFill>
                    <a:srgbClr val="0279AF"/>
                  </a:solidFill>
                  <a:latin typeface="DIN Condensed" pitchFamily="2" charset="0"/>
                  <a:ea typeface="Arial Unicode MS" panose="020B0604020202020204" pitchFamily="34" charset="-128"/>
                  <a:cs typeface="Times New Roman" panose="02020603050405020304" pitchFamily="18" charset="0"/>
                </a:rPr>
                <a:t>EarthSystem</a:t>
              </a:r>
            </a:p>
          </p:txBody>
        </p:sp>
      </p:grpSp>
      <p:sp>
        <p:nvSpPr>
          <p:cNvPr id="2" name="TextBox 1">
            <a:extLst>
              <a:ext uri="{FF2B5EF4-FFF2-40B4-BE49-F238E27FC236}">
                <a16:creationId xmlns:a16="http://schemas.microsoft.com/office/drawing/2014/main" id="{14944187-0E28-5741-C5B9-F8F8B303F90A}"/>
              </a:ext>
            </a:extLst>
          </p:cNvPr>
          <p:cNvSpPr txBox="1"/>
          <p:nvPr/>
        </p:nvSpPr>
        <p:spPr>
          <a:xfrm>
            <a:off x="595021" y="3774910"/>
            <a:ext cx="5652914" cy="2031325"/>
          </a:xfrm>
          <a:prstGeom prst="rect">
            <a:avLst/>
          </a:prstGeom>
          <a:solidFill>
            <a:schemeClr val="bg1">
              <a:lumMod val="95000"/>
            </a:schemeClr>
          </a:solidFill>
        </p:spPr>
        <p:txBody>
          <a:bodyPr wrap="square" rtlCol="0">
            <a:spAutoFit/>
          </a:bodyPr>
          <a:lstStyle/>
          <a:p>
            <a:r>
              <a:rPr lang="en-GB" dirty="0">
                <a:solidFill>
                  <a:schemeClr val="tx1">
                    <a:lumMod val="65000"/>
                    <a:lumOff val="35000"/>
                  </a:schemeClr>
                </a:solidFill>
              </a:rPr>
              <a:t>The Earth System Complexity group at AWI is focused on understanding interactions between large-scale components of the Earth, like the ice sheets and ocean circulation, boreal forest and permafrost. We strive to increase our understanding of the relevant processes driving dynamics within these systems on long timescales, using numerical models and paleo data analysis.</a:t>
            </a:r>
            <a:endParaRPr lang="en-DE" dirty="0">
              <a:solidFill>
                <a:schemeClr val="tx1">
                  <a:lumMod val="65000"/>
                  <a:lumOff val="35000"/>
                </a:schemeClr>
              </a:solidFill>
            </a:endParaRPr>
          </a:p>
        </p:txBody>
      </p:sp>
      <p:sp>
        <p:nvSpPr>
          <p:cNvPr id="3" name="TextBox 2">
            <a:extLst>
              <a:ext uri="{FF2B5EF4-FFF2-40B4-BE49-F238E27FC236}">
                <a16:creationId xmlns:a16="http://schemas.microsoft.com/office/drawing/2014/main" id="{6164360F-DEFE-AE18-95DC-0EDBE2E82FFB}"/>
              </a:ext>
            </a:extLst>
          </p:cNvPr>
          <p:cNvSpPr txBox="1"/>
          <p:nvPr/>
        </p:nvSpPr>
        <p:spPr>
          <a:xfrm>
            <a:off x="6672943" y="1635693"/>
            <a:ext cx="5330725" cy="2754600"/>
          </a:xfrm>
          <a:prstGeom prst="rect">
            <a:avLst/>
          </a:prstGeom>
          <a:noFill/>
        </p:spPr>
        <p:txBody>
          <a:bodyPr wrap="square" numCol="2" rtlCol="0">
            <a:spAutoFit/>
          </a:bodyPr>
          <a:lstStyle/>
          <a:p>
            <a:r>
              <a:rPr lang="en-GB" sz="2400" dirty="0"/>
              <a:t>Alexander Robinson</a:t>
            </a:r>
            <a:br>
              <a:rPr lang="en-GB" sz="2400" dirty="0"/>
            </a:br>
            <a:r>
              <a:rPr lang="en-GB" sz="2400" dirty="0"/>
              <a:t>Britta </a:t>
            </a:r>
            <a:r>
              <a:rPr lang="en-GB" sz="2400" dirty="0" err="1"/>
              <a:t>Grusdt</a:t>
            </a:r>
            <a:endParaRPr lang="en-GB" sz="2400" dirty="0"/>
          </a:p>
          <a:p>
            <a:r>
              <a:rPr lang="en-GB" sz="2400" dirty="0"/>
              <a:t>Mahé Perrette</a:t>
            </a:r>
            <a:br>
              <a:rPr lang="en-GB" sz="2400" dirty="0"/>
            </a:br>
            <a:r>
              <a:rPr lang="en-GB" sz="2400" dirty="0"/>
              <a:t>Anna </a:t>
            </a:r>
            <a:r>
              <a:rPr lang="en-GB" sz="2400" dirty="0" err="1"/>
              <a:t>Höse</a:t>
            </a:r>
            <a:br>
              <a:rPr lang="en-GB" sz="2400" dirty="0">
                <a:solidFill>
                  <a:schemeClr val="tx1">
                    <a:lumMod val="50000"/>
                    <a:lumOff val="50000"/>
                  </a:schemeClr>
                </a:solidFill>
              </a:rPr>
            </a:br>
            <a:r>
              <a:rPr lang="en-GB" sz="2400" dirty="0">
                <a:solidFill>
                  <a:schemeClr val="tx1">
                    <a:lumMod val="50000"/>
                    <a:lumOff val="50000"/>
                  </a:schemeClr>
                </a:solidFill>
              </a:rPr>
              <a:t>      </a:t>
            </a:r>
          </a:p>
          <a:p>
            <a:endParaRPr lang="en-GB" sz="2400" dirty="0">
              <a:solidFill>
                <a:schemeClr val="tx1">
                  <a:lumMod val="50000"/>
                  <a:lumOff val="50000"/>
                </a:schemeClr>
              </a:solidFill>
            </a:endParaRPr>
          </a:p>
          <a:p>
            <a:endParaRPr lang="en-GB" sz="2400" dirty="0">
              <a:solidFill>
                <a:schemeClr val="tx1">
                  <a:lumMod val="50000"/>
                  <a:lumOff val="50000"/>
                </a:schemeClr>
              </a:solidFill>
            </a:endParaRPr>
          </a:p>
          <a:p>
            <a:r>
              <a:rPr lang="en-GB" sz="2400" dirty="0">
                <a:solidFill>
                  <a:schemeClr val="tx1">
                    <a:lumMod val="50000"/>
                    <a:lumOff val="50000"/>
                  </a:schemeClr>
                </a:solidFill>
              </a:rPr>
              <a:t>      </a:t>
            </a:r>
            <a:r>
              <a:rPr lang="en-GB" sz="2400" dirty="0"/>
              <a:t>Javier Blasco</a:t>
            </a:r>
          </a:p>
          <a:p>
            <a:r>
              <a:rPr lang="en-DE" sz="2400" dirty="0"/>
              <a:t>      Nils Bochow</a:t>
            </a:r>
          </a:p>
          <a:p>
            <a:r>
              <a:rPr lang="en-DE" sz="2400" dirty="0"/>
              <a:t>      Raphael Hebert</a:t>
            </a:r>
          </a:p>
        </p:txBody>
      </p:sp>
      <p:sp>
        <p:nvSpPr>
          <p:cNvPr id="8" name="TextBox 7">
            <a:extLst>
              <a:ext uri="{FF2B5EF4-FFF2-40B4-BE49-F238E27FC236}">
                <a16:creationId xmlns:a16="http://schemas.microsoft.com/office/drawing/2014/main" id="{C12CEEFF-C3AF-0B77-C058-E57F390C6FF6}"/>
              </a:ext>
            </a:extLst>
          </p:cNvPr>
          <p:cNvSpPr txBox="1"/>
          <p:nvPr/>
        </p:nvSpPr>
        <p:spPr>
          <a:xfrm>
            <a:off x="7727219" y="989537"/>
            <a:ext cx="3222171"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2400" b="1" i="0" u="sng" strike="noStrike" kern="1200" cap="none" spc="0" normalizeH="0" baseline="0" noProof="0" dirty="0">
                <a:ln>
                  <a:noFill/>
                </a:ln>
                <a:solidFill>
                  <a:prstClr val="black"/>
                </a:solidFill>
                <a:effectLst/>
                <a:uLnTx/>
                <a:uFillTx/>
                <a:latin typeface="Calibri" panose="020F0502020204030204"/>
                <a:ea typeface="+mn-ea"/>
                <a:cs typeface="+mn-cs"/>
              </a:rPr>
              <a:t>Group members</a:t>
            </a:r>
          </a:p>
        </p:txBody>
      </p:sp>
      <p:sp>
        <p:nvSpPr>
          <p:cNvPr id="9" name="TextBox 8">
            <a:extLst>
              <a:ext uri="{FF2B5EF4-FFF2-40B4-BE49-F238E27FC236}">
                <a16:creationId xmlns:a16="http://schemas.microsoft.com/office/drawing/2014/main" id="{C90DF009-FE9C-95C8-7C27-9FE28C5F9C3D}"/>
              </a:ext>
            </a:extLst>
          </p:cNvPr>
          <p:cNvSpPr txBox="1"/>
          <p:nvPr/>
        </p:nvSpPr>
        <p:spPr>
          <a:xfrm>
            <a:off x="6715079" y="3559465"/>
            <a:ext cx="5246450" cy="2539157"/>
          </a:xfrm>
          <a:prstGeom prst="rect">
            <a:avLst/>
          </a:prstGeom>
          <a:solidFill>
            <a:schemeClr val="accent6">
              <a:lumMod val="20000"/>
              <a:lumOff val="80000"/>
            </a:schemeClr>
          </a:solidFill>
        </p:spPr>
        <p:txBody>
          <a:bodyPr wrap="square" rtlCol="0">
            <a:spAutoFit/>
          </a:bodyPr>
          <a:lstStyle/>
          <a:p>
            <a:pPr algn="ctr">
              <a:spcAft>
                <a:spcPts val="600"/>
              </a:spcAft>
            </a:pPr>
            <a:r>
              <a:rPr lang="en-DE" sz="2400" b="1" u="sng" dirty="0"/>
              <a:t>Projects</a:t>
            </a:r>
          </a:p>
          <a:p>
            <a:pPr>
              <a:spcAft>
                <a:spcPts val="600"/>
              </a:spcAft>
            </a:pPr>
            <a:r>
              <a:rPr lang="en-DE" sz="2400" b="1" dirty="0"/>
              <a:t>FORCLIMA</a:t>
            </a:r>
            <a:r>
              <a:rPr lang="en-DE" sz="2400" dirty="0"/>
              <a:t> – Forecasting climate surprises on long timescales</a:t>
            </a:r>
          </a:p>
          <a:p>
            <a:pPr>
              <a:spcAft>
                <a:spcPts val="600"/>
              </a:spcAft>
            </a:pPr>
            <a:r>
              <a:rPr lang="en-DE" sz="2400" b="1" dirty="0"/>
              <a:t>ClimTip</a:t>
            </a:r>
            <a:r>
              <a:rPr lang="en-DE" sz="2400" dirty="0"/>
              <a:t> - </a:t>
            </a:r>
            <a:r>
              <a:rPr lang="en-GB" sz="2400" dirty="0"/>
              <a:t>Understanding and Assessing Climate Tipping Points</a:t>
            </a:r>
          </a:p>
          <a:p>
            <a:pPr>
              <a:spcAft>
                <a:spcPts val="600"/>
              </a:spcAft>
            </a:pPr>
            <a:r>
              <a:rPr lang="en-GB" sz="2400" b="1" dirty="0"/>
              <a:t>P2F</a:t>
            </a:r>
            <a:r>
              <a:rPr lang="en-GB" sz="2400" dirty="0"/>
              <a:t> – Past to Future</a:t>
            </a:r>
            <a:endParaRPr lang="en-DE" sz="2400" dirty="0"/>
          </a:p>
        </p:txBody>
      </p:sp>
    </p:spTree>
    <p:extLst>
      <p:ext uri="{BB962C8B-B14F-4D97-AF65-F5344CB8AC3E}">
        <p14:creationId xmlns:p14="http://schemas.microsoft.com/office/powerpoint/2010/main" val="39138763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29351</TotalTime>
  <Words>106</Words>
  <Application>Microsoft Macintosh PowerPoint</Application>
  <PresentationFormat>Widescreen</PresentationFormat>
  <Paragraphs>15</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DIN Condensed</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Alexander Robinson</dc:creator>
  <cp:lastModifiedBy>Alexander Robinson</cp:lastModifiedBy>
  <cp:revision>31</cp:revision>
  <cp:lastPrinted>2025-06-04T06:31:12Z</cp:lastPrinted>
  <dcterms:created xsi:type="dcterms:W3CDTF">2023-05-09T11:16:08Z</dcterms:created>
  <dcterms:modified xsi:type="dcterms:W3CDTF">2025-06-04T06:34:24Z</dcterms:modified>
</cp:coreProperties>
</file>