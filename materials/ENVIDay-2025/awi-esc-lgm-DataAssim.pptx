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6" d="100"/>
          <a:sy n="86" d="100"/>
        </p:scale>
        <p:origin x="19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042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468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567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309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511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807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6247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715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463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579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157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C17C-C6A5-E64D-B4AB-5445F19A2468}" type="datetimeFigureOut">
              <a:rPr lang="en-DE" smtClean="0"/>
              <a:t>04.06.25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04F67-4249-BA4C-AB22-4139EEBDAD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403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EB2A20-B902-6E83-A203-9D06366AB5A9}"/>
              </a:ext>
            </a:extLst>
          </p:cNvPr>
          <p:cNvSpPr/>
          <p:nvPr/>
        </p:nvSpPr>
        <p:spPr>
          <a:xfrm>
            <a:off x="0" y="1"/>
            <a:ext cx="12801600" cy="131913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54383-8112-C907-ED96-5776DDC3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5" r="15916" b="11475"/>
          <a:stretch>
            <a:fillRect/>
          </a:stretch>
        </p:blipFill>
        <p:spPr>
          <a:xfrm>
            <a:off x="0" y="0"/>
            <a:ext cx="2548328" cy="1585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4BF52-4722-3BDD-8469-4CC53AC2F725}"/>
              </a:ext>
            </a:extLst>
          </p:cNvPr>
          <p:cNvSpPr txBox="1"/>
          <p:nvPr/>
        </p:nvSpPr>
        <p:spPr>
          <a:xfrm>
            <a:off x="2718843" y="813615"/>
            <a:ext cx="674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Mahé Perrette, Britta Grusdt, Thom Laepple, Alexander Robinson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286C2-30DE-1C57-EE57-C2EFF281D91C}"/>
              </a:ext>
            </a:extLst>
          </p:cNvPr>
          <p:cNvSpPr txBox="1"/>
          <p:nvPr/>
        </p:nvSpPr>
        <p:spPr>
          <a:xfrm>
            <a:off x="2619532" y="237531"/>
            <a:ext cx="9036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LGM data assimilation : a systematic sensitivity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509E4-9B6E-2AA9-1929-99F89C068C7A}"/>
              </a:ext>
            </a:extLst>
          </p:cNvPr>
          <p:cNvSpPr txBox="1"/>
          <p:nvPr/>
        </p:nvSpPr>
        <p:spPr>
          <a:xfrm>
            <a:off x="1280131" y="9105254"/>
            <a:ext cx="377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Tierney et al., 2020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29FAD2-6245-4992-D2EA-9DF4DA3FE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16" y="4148529"/>
            <a:ext cx="5778153" cy="4875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D86B77-6449-7576-7F27-77FAA5C53724}"/>
              </a:ext>
            </a:extLst>
          </p:cNvPr>
          <p:cNvSpPr txBox="1"/>
          <p:nvPr/>
        </p:nvSpPr>
        <p:spPr>
          <a:xfrm>
            <a:off x="276069" y="1564281"/>
            <a:ext cx="6004809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/>
              <a:t>Can DA really provide a robust estimate of LGM cooling?</a:t>
            </a:r>
          </a:p>
          <a:p>
            <a:pPr marL="285750" indent="-285750">
              <a:buFontTx/>
              <a:buChar char="-"/>
            </a:pPr>
            <a:r>
              <a:rPr lang="en-DE" dirty="0"/>
              <a:t>Sparse, uncertain proxy data</a:t>
            </a:r>
          </a:p>
          <a:p>
            <a:pPr marL="285750" indent="-285750">
              <a:buFontTx/>
              <a:buChar char="-"/>
            </a:pPr>
            <a:r>
              <a:rPr lang="en-DE" dirty="0"/>
              <a:t>Lack of diverse prior (not enough </a:t>
            </a:r>
            <a:r>
              <a:rPr lang="en-DE" b="1" i="1" dirty="0"/>
              <a:t>good</a:t>
            </a:r>
            <a:r>
              <a:rPr lang="en-DE" dirty="0"/>
              <a:t> model simulations)</a:t>
            </a:r>
          </a:p>
          <a:p>
            <a:pPr>
              <a:spcBef>
                <a:spcPts val="600"/>
              </a:spcBef>
            </a:pPr>
            <a:r>
              <a:rPr lang="en-DE" b="1" dirty="0"/>
              <a:t>Goals</a:t>
            </a:r>
            <a:r>
              <a:rPr lang="en-DE" dirty="0"/>
              <a:t>: </a:t>
            </a:r>
          </a:p>
          <a:p>
            <a:pPr marL="285750" indent="-285750">
              <a:buFontTx/>
              <a:buChar char="-"/>
            </a:pPr>
            <a:r>
              <a:rPr lang="en-DE" dirty="0"/>
              <a:t>Understand key factors t</a:t>
            </a:r>
            <a:r>
              <a:rPr lang="en-GB" dirty="0"/>
              <a:t>ha</a:t>
            </a:r>
            <a:r>
              <a:rPr lang="en-DE" dirty="0"/>
              <a:t>t influence reconstructions.</a:t>
            </a:r>
          </a:p>
          <a:p>
            <a:pPr marL="285750" indent="-285750">
              <a:buFontTx/>
              <a:buChar char="-"/>
            </a:pPr>
            <a:r>
              <a:rPr lang="en-DE" dirty="0"/>
              <a:t>Provide more robust estimates with traceable assumptions. </a:t>
            </a:r>
          </a:p>
          <a:p>
            <a:pPr marL="285750" indent="-285750">
              <a:buFontTx/>
              <a:buChar char="-"/>
            </a:pPr>
            <a:r>
              <a:rPr lang="en-DE" dirty="0"/>
              <a:t>Include new paleo proxy data – from terrestrial sources??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425C93-7219-4AF6-D808-AB392028E1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17" t="82470"/>
          <a:stretch>
            <a:fillRect/>
          </a:stretch>
        </p:blipFill>
        <p:spPr>
          <a:xfrm>
            <a:off x="7227201" y="4663099"/>
            <a:ext cx="5083934" cy="26799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F5E3FA-D557-67A8-5953-A540AD75FB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69" r="49375" b="33348"/>
          <a:stretch>
            <a:fillRect/>
          </a:stretch>
        </p:blipFill>
        <p:spPr>
          <a:xfrm>
            <a:off x="7227201" y="2251272"/>
            <a:ext cx="5083934" cy="24828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5AAD146-53BE-63F3-47A2-A67F44DD4251}"/>
              </a:ext>
            </a:extLst>
          </p:cNvPr>
          <p:cNvSpPr txBox="1"/>
          <p:nvPr/>
        </p:nvSpPr>
        <p:spPr>
          <a:xfrm>
            <a:off x="10176966" y="4663099"/>
            <a:ext cx="159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2">
                    <a:lumMod val="75000"/>
                  </a:schemeClr>
                </a:solidFill>
              </a:rPr>
              <a:t>LGM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&lt; -6 K </a:t>
            </a:r>
            <a:endParaRPr lang="en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8324D0-4DC6-6DB6-1612-1000AF21BF91}"/>
              </a:ext>
            </a:extLst>
          </p:cNvPr>
          <p:cNvSpPr txBox="1"/>
          <p:nvPr/>
        </p:nvSpPr>
        <p:spPr>
          <a:xfrm>
            <a:off x="10366274" y="2066606"/>
            <a:ext cx="159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2">
                    <a:lumMod val="75000"/>
                  </a:schemeClr>
                </a:solidFill>
              </a:rPr>
              <a:t>LGM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&gt; -5 K </a:t>
            </a:r>
            <a:endParaRPr lang="en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CDF0E-D168-C9A3-D763-E5F802060367}"/>
              </a:ext>
            </a:extLst>
          </p:cNvPr>
          <p:cNvSpPr txBox="1"/>
          <p:nvPr/>
        </p:nvSpPr>
        <p:spPr>
          <a:xfrm>
            <a:off x="3792511" y="8602919"/>
            <a:ext cx="226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2">
                    <a:lumMod val="75000"/>
                  </a:schemeClr>
                </a:solidFill>
              </a:rPr>
              <a:t>LGM,DA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= -6.1±0.2 K </a:t>
            </a:r>
            <a:endParaRPr lang="en-DE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C8F413-D79E-7DD7-409C-DD52C126DD8F}"/>
              </a:ext>
            </a:extLst>
          </p:cNvPr>
          <p:cNvSpPr txBox="1"/>
          <p:nvPr/>
        </p:nvSpPr>
        <p:spPr>
          <a:xfrm>
            <a:off x="6869752" y="1464089"/>
            <a:ext cx="5465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 dirty="0"/>
              <a:t>Example </a:t>
            </a:r>
            <a:r>
              <a:rPr lang="el-GR" b="1" dirty="0"/>
              <a:t>Δ</a:t>
            </a:r>
            <a:r>
              <a:rPr lang="de-DE" b="1" dirty="0"/>
              <a:t>T</a:t>
            </a:r>
            <a:r>
              <a:rPr lang="de-DE" b="1" baseline="-25000" dirty="0"/>
              <a:t>LGM</a:t>
            </a:r>
            <a:r>
              <a:rPr lang="de-DE" b="1" dirty="0"/>
              <a:t> </a:t>
            </a:r>
            <a:r>
              <a:rPr lang="de-DE" b="1" dirty="0" err="1"/>
              <a:t>fields</a:t>
            </a:r>
            <a:r>
              <a:rPr lang="de-DE" b="1" dirty="0"/>
              <a:t> </a:t>
            </a:r>
            <a:r>
              <a:rPr lang="de-DE" b="1" dirty="0" err="1"/>
              <a:t>from</a:t>
            </a:r>
            <a:r>
              <a:rPr lang="de-DE" b="1" dirty="0"/>
              <a:t> PMIP </a:t>
            </a:r>
            <a:r>
              <a:rPr lang="de-DE" b="1" dirty="0" err="1"/>
              <a:t>models</a:t>
            </a:r>
            <a:r>
              <a:rPr lang="de-DE" b="1" dirty="0"/>
              <a:t> </a:t>
            </a:r>
            <a:br>
              <a:rPr lang="de-DE" b="1" dirty="0"/>
            </a:br>
            <a:r>
              <a:rPr lang="de-DE" b="1" dirty="0"/>
              <a:t>(6 </a:t>
            </a:r>
            <a:r>
              <a:rPr lang="de-DE" b="1" dirty="0" err="1"/>
              <a:t>models</a:t>
            </a:r>
            <a:r>
              <a:rPr lang="de-DE" b="1" dirty="0"/>
              <a:t> </a:t>
            </a:r>
            <a:r>
              <a:rPr lang="de-DE" b="1" dirty="0" err="1"/>
              <a:t>available</a:t>
            </a:r>
            <a:r>
              <a:rPr lang="de-DE" b="1" dirty="0"/>
              <a:t> </a:t>
            </a:r>
            <a:r>
              <a:rPr lang="de-DE" b="1" dirty="0" err="1"/>
              <a:t>from</a:t>
            </a:r>
            <a:r>
              <a:rPr lang="de-DE" b="1" dirty="0"/>
              <a:t> CMIP6)</a:t>
            </a:r>
            <a:endParaRPr lang="en-DE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79D4CF-93F4-7422-0F37-3F2F64A8AD50}"/>
              </a:ext>
            </a:extLst>
          </p:cNvPr>
          <p:cNvCxnSpPr>
            <a:stCxn id="16" idx="1"/>
            <a:endCxn id="13" idx="3"/>
          </p:cNvCxnSpPr>
          <p:nvPr/>
        </p:nvCxnSpPr>
        <p:spPr>
          <a:xfrm flipH="1">
            <a:off x="6057969" y="6003085"/>
            <a:ext cx="1169232" cy="583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133CA9-7408-0995-DEC1-7DB45CD4C2B2}"/>
              </a:ext>
            </a:extLst>
          </p:cNvPr>
          <p:cNvSpPr txBox="1"/>
          <p:nvPr/>
        </p:nvSpPr>
        <p:spPr>
          <a:xfrm>
            <a:off x="6159017" y="6586187"/>
            <a:ext cx="1169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Onl</a:t>
            </a:r>
            <a:r>
              <a:rPr lang="en-US" dirty="0"/>
              <a:t>y used CESM for prior!</a:t>
            </a:r>
            <a:endParaRPr lang="en-DE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E6D3EEE-988B-F35E-B50E-D3659B9DC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387" y="7384298"/>
            <a:ext cx="3251385" cy="20102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5A21693-ABD9-57AF-D966-1C5157F8C286}"/>
              </a:ext>
            </a:extLst>
          </p:cNvPr>
          <p:cNvSpPr txBox="1"/>
          <p:nvPr/>
        </p:nvSpPr>
        <p:spPr>
          <a:xfrm>
            <a:off x="8533614" y="9289920"/>
            <a:ext cx="3777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600" dirty="0"/>
              <a:t>Tierney et al., 2020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34D9E8-D765-B27A-74C1-F66D867E9923}"/>
              </a:ext>
            </a:extLst>
          </p:cNvPr>
          <p:cNvSpPr txBox="1"/>
          <p:nvPr/>
        </p:nvSpPr>
        <p:spPr>
          <a:xfrm>
            <a:off x="10591534" y="7956588"/>
            <a:ext cx="171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LGM marine proxy sites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55578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</TotalTime>
  <Words>131</Words>
  <Application>Microsoft Macintosh PowerPoint</Application>
  <PresentationFormat>A3 Paper (297x420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Robinson</dc:creator>
  <cp:lastModifiedBy>Alexander Robinson</cp:lastModifiedBy>
  <cp:revision>7</cp:revision>
  <cp:lastPrinted>2025-06-04T07:11:42Z</cp:lastPrinted>
  <dcterms:created xsi:type="dcterms:W3CDTF">2025-06-04T06:56:49Z</dcterms:created>
  <dcterms:modified xsi:type="dcterms:W3CDTF">2025-06-04T08:02:38Z</dcterms:modified>
</cp:coreProperties>
</file>