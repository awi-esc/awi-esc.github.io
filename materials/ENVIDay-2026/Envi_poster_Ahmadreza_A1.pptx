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30275213" cy="21388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4694"/>
  </p:normalViewPr>
  <p:slideViewPr>
    <p:cSldViewPr snapToGrid="0">
      <p:cViewPr>
        <p:scale>
          <a:sx n="30" d="100"/>
          <a:sy n="30" d="100"/>
        </p:scale>
        <p:origin x="1320" y="-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500370"/>
            <a:ext cx="25733931" cy="7446328"/>
          </a:xfrm>
        </p:spPr>
        <p:txBody>
          <a:bodyPr anchor="b"/>
          <a:lstStyle>
            <a:lvl1pPr algn="ctr">
              <a:defRPr sz="187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3856"/>
            <a:ext cx="22706410" cy="5163908"/>
          </a:xfrm>
        </p:spPr>
        <p:txBody>
          <a:bodyPr/>
          <a:lstStyle>
            <a:lvl1pPr marL="0" indent="0" algn="ctr">
              <a:buNone/>
              <a:defRPr sz="7485"/>
            </a:lvl1pPr>
            <a:lvl2pPr marL="1425915" indent="0" algn="ctr">
              <a:buNone/>
              <a:defRPr sz="6238"/>
            </a:lvl2pPr>
            <a:lvl3pPr marL="2851831" indent="0" algn="ctr">
              <a:buNone/>
              <a:defRPr sz="5614"/>
            </a:lvl3pPr>
            <a:lvl4pPr marL="4277746" indent="0" algn="ctr">
              <a:buNone/>
              <a:defRPr sz="4990"/>
            </a:lvl4pPr>
            <a:lvl5pPr marL="5703661" indent="0" algn="ctr">
              <a:buNone/>
              <a:defRPr sz="4990"/>
            </a:lvl5pPr>
            <a:lvl6pPr marL="7129577" indent="0" algn="ctr">
              <a:buNone/>
              <a:defRPr sz="4990"/>
            </a:lvl6pPr>
            <a:lvl7pPr marL="8555492" indent="0" algn="ctr">
              <a:buNone/>
              <a:defRPr sz="4990"/>
            </a:lvl7pPr>
            <a:lvl8pPr marL="9981408" indent="0" algn="ctr">
              <a:buNone/>
              <a:defRPr sz="4990"/>
            </a:lvl8pPr>
            <a:lvl9pPr marL="11407323" indent="0" algn="ctr">
              <a:buNone/>
              <a:defRPr sz="49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9548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458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2250"/>
            <a:ext cx="26112371" cy="8896974"/>
          </a:xfrm>
        </p:spPr>
        <p:txBody>
          <a:bodyPr anchor="b"/>
          <a:lstStyle>
            <a:lvl1pPr>
              <a:defRPr sz="187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3393"/>
            <a:ext cx="26112371" cy="4678708"/>
          </a:xfrm>
        </p:spPr>
        <p:txBody>
          <a:bodyPr/>
          <a:lstStyle>
            <a:lvl1pPr marL="0" indent="0">
              <a:buNone/>
              <a:defRPr sz="7485">
                <a:solidFill>
                  <a:schemeClr val="tx1"/>
                </a:solidFill>
              </a:defRPr>
            </a:lvl1pPr>
            <a:lvl2pPr marL="1425915" indent="0">
              <a:buNone/>
              <a:defRPr sz="6238">
                <a:solidFill>
                  <a:schemeClr val="tx1">
                    <a:tint val="75000"/>
                  </a:schemeClr>
                </a:solidFill>
              </a:defRPr>
            </a:lvl2pPr>
            <a:lvl3pPr marL="2851831" indent="0">
              <a:buNone/>
              <a:defRPr sz="5614">
                <a:solidFill>
                  <a:schemeClr val="tx1">
                    <a:tint val="75000"/>
                  </a:schemeClr>
                </a:solidFill>
              </a:defRPr>
            </a:lvl3pPr>
            <a:lvl4pPr marL="4277746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4pPr>
            <a:lvl5pPr marL="5703661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5pPr>
            <a:lvl6pPr marL="7129577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6pPr>
            <a:lvl7pPr marL="8555492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7pPr>
            <a:lvl8pPr marL="9981408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8pPr>
            <a:lvl9pPr marL="11407323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15639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3668"/>
            <a:ext cx="12866966" cy="135707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3668"/>
            <a:ext cx="12866966" cy="135707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485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738"/>
            <a:ext cx="26112371" cy="41341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3127"/>
            <a:ext cx="12807832" cy="2569576"/>
          </a:xfrm>
        </p:spPr>
        <p:txBody>
          <a:bodyPr anchor="b"/>
          <a:lstStyle>
            <a:lvl1pPr marL="0" indent="0">
              <a:buNone/>
              <a:defRPr sz="7485" b="1"/>
            </a:lvl1pPr>
            <a:lvl2pPr marL="1425915" indent="0">
              <a:buNone/>
              <a:defRPr sz="6238" b="1"/>
            </a:lvl2pPr>
            <a:lvl3pPr marL="2851831" indent="0">
              <a:buNone/>
              <a:defRPr sz="5614" b="1"/>
            </a:lvl3pPr>
            <a:lvl4pPr marL="4277746" indent="0">
              <a:buNone/>
              <a:defRPr sz="4990" b="1"/>
            </a:lvl4pPr>
            <a:lvl5pPr marL="5703661" indent="0">
              <a:buNone/>
              <a:defRPr sz="4990" b="1"/>
            </a:lvl5pPr>
            <a:lvl6pPr marL="7129577" indent="0">
              <a:buNone/>
              <a:defRPr sz="4990" b="1"/>
            </a:lvl6pPr>
            <a:lvl7pPr marL="8555492" indent="0">
              <a:buNone/>
              <a:defRPr sz="4990" b="1"/>
            </a:lvl7pPr>
            <a:lvl8pPr marL="9981408" indent="0">
              <a:buNone/>
              <a:defRPr sz="4990" b="1"/>
            </a:lvl8pPr>
            <a:lvl9pPr marL="11407323" indent="0">
              <a:buNone/>
              <a:defRPr sz="49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2703"/>
            <a:ext cx="12807832" cy="11491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3127"/>
            <a:ext cx="12870909" cy="2569576"/>
          </a:xfrm>
        </p:spPr>
        <p:txBody>
          <a:bodyPr anchor="b"/>
          <a:lstStyle>
            <a:lvl1pPr marL="0" indent="0">
              <a:buNone/>
              <a:defRPr sz="7485" b="1"/>
            </a:lvl1pPr>
            <a:lvl2pPr marL="1425915" indent="0">
              <a:buNone/>
              <a:defRPr sz="6238" b="1"/>
            </a:lvl2pPr>
            <a:lvl3pPr marL="2851831" indent="0">
              <a:buNone/>
              <a:defRPr sz="5614" b="1"/>
            </a:lvl3pPr>
            <a:lvl4pPr marL="4277746" indent="0">
              <a:buNone/>
              <a:defRPr sz="4990" b="1"/>
            </a:lvl4pPr>
            <a:lvl5pPr marL="5703661" indent="0">
              <a:buNone/>
              <a:defRPr sz="4990" b="1"/>
            </a:lvl5pPr>
            <a:lvl6pPr marL="7129577" indent="0">
              <a:buNone/>
              <a:defRPr sz="4990" b="1"/>
            </a:lvl6pPr>
            <a:lvl7pPr marL="8555492" indent="0">
              <a:buNone/>
              <a:defRPr sz="4990" b="1"/>
            </a:lvl7pPr>
            <a:lvl8pPr marL="9981408" indent="0">
              <a:buNone/>
              <a:defRPr sz="4990" b="1"/>
            </a:lvl8pPr>
            <a:lvl9pPr marL="11407323" indent="0">
              <a:buNone/>
              <a:defRPr sz="49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2703"/>
            <a:ext cx="12870909" cy="11491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0546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5269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351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892"/>
            <a:ext cx="9764544" cy="4990624"/>
          </a:xfrm>
        </p:spPr>
        <p:txBody>
          <a:bodyPr anchor="b"/>
          <a:lstStyle>
            <a:lvl1pPr>
              <a:defRPr sz="9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9537"/>
            <a:ext cx="15326827" cy="15199618"/>
          </a:xfrm>
        </p:spPr>
        <p:txBody>
          <a:bodyPr/>
          <a:lstStyle>
            <a:lvl1pPr>
              <a:defRPr sz="9980"/>
            </a:lvl1pPr>
            <a:lvl2pPr>
              <a:defRPr sz="8733"/>
            </a:lvl2pPr>
            <a:lvl3pPr>
              <a:defRPr sz="7485"/>
            </a:lvl3pPr>
            <a:lvl4pPr>
              <a:defRPr sz="6238"/>
            </a:lvl4pPr>
            <a:lvl5pPr>
              <a:defRPr sz="6238"/>
            </a:lvl5pPr>
            <a:lvl6pPr>
              <a:defRPr sz="6238"/>
            </a:lvl6pPr>
            <a:lvl7pPr>
              <a:defRPr sz="6238"/>
            </a:lvl7pPr>
            <a:lvl8pPr>
              <a:defRPr sz="6238"/>
            </a:lvl8pPr>
            <a:lvl9pPr>
              <a:defRPr sz="62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6517"/>
            <a:ext cx="9764544" cy="11887390"/>
          </a:xfrm>
        </p:spPr>
        <p:txBody>
          <a:bodyPr/>
          <a:lstStyle>
            <a:lvl1pPr marL="0" indent="0">
              <a:buNone/>
              <a:defRPr sz="4990"/>
            </a:lvl1pPr>
            <a:lvl2pPr marL="1425915" indent="0">
              <a:buNone/>
              <a:defRPr sz="4366"/>
            </a:lvl2pPr>
            <a:lvl3pPr marL="2851831" indent="0">
              <a:buNone/>
              <a:defRPr sz="3743"/>
            </a:lvl3pPr>
            <a:lvl4pPr marL="4277746" indent="0">
              <a:buNone/>
              <a:defRPr sz="3119"/>
            </a:lvl4pPr>
            <a:lvl5pPr marL="5703661" indent="0">
              <a:buNone/>
              <a:defRPr sz="3119"/>
            </a:lvl5pPr>
            <a:lvl6pPr marL="7129577" indent="0">
              <a:buNone/>
              <a:defRPr sz="3119"/>
            </a:lvl6pPr>
            <a:lvl7pPr marL="8555492" indent="0">
              <a:buNone/>
              <a:defRPr sz="3119"/>
            </a:lvl7pPr>
            <a:lvl8pPr marL="9981408" indent="0">
              <a:buNone/>
              <a:defRPr sz="3119"/>
            </a:lvl8pPr>
            <a:lvl9pPr marL="11407323" indent="0">
              <a:buNone/>
              <a:defRPr sz="31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80021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892"/>
            <a:ext cx="9764544" cy="4990624"/>
          </a:xfrm>
        </p:spPr>
        <p:txBody>
          <a:bodyPr anchor="b"/>
          <a:lstStyle>
            <a:lvl1pPr>
              <a:defRPr sz="9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9537"/>
            <a:ext cx="15326827" cy="15199618"/>
          </a:xfrm>
        </p:spPr>
        <p:txBody>
          <a:bodyPr anchor="t"/>
          <a:lstStyle>
            <a:lvl1pPr marL="0" indent="0">
              <a:buNone/>
              <a:defRPr sz="9980"/>
            </a:lvl1pPr>
            <a:lvl2pPr marL="1425915" indent="0">
              <a:buNone/>
              <a:defRPr sz="8733"/>
            </a:lvl2pPr>
            <a:lvl3pPr marL="2851831" indent="0">
              <a:buNone/>
              <a:defRPr sz="7485"/>
            </a:lvl3pPr>
            <a:lvl4pPr marL="4277746" indent="0">
              <a:buNone/>
              <a:defRPr sz="6238"/>
            </a:lvl4pPr>
            <a:lvl5pPr marL="5703661" indent="0">
              <a:buNone/>
              <a:defRPr sz="6238"/>
            </a:lvl5pPr>
            <a:lvl6pPr marL="7129577" indent="0">
              <a:buNone/>
              <a:defRPr sz="6238"/>
            </a:lvl6pPr>
            <a:lvl7pPr marL="8555492" indent="0">
              <a:buNone/>
              <a:defRPr sz="6238"/>
            </a:lvl7pPr>
            <a:lvl8pPr marL="9981408" indent="0">
              <a:buNone/>
              <a:defRPr sz="6238"/>
            </a:lvl8pPr>
            <a:lvl9pPr marL="11407323" indent="0">
              <a:buNone/>
              <a:defRPr sz="62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6517"/>
            <a:ext cx="9764544" cy="11887390"/>
          </a:xfrm>
        </p:spPr>
        <p:txBody>
          <a:bodyPr/>
          <a:lstStyle>
            <a:lvl1pPr marL="0" indent="0">
              <a:buNone/>
              <a:defRPr sz="4990"/>
            </a:lvl1pPr>
            <a:lvl2pPr marL="1425915" indent="0">
              <a:buNone/>
              <a:defRPr sz="4366"/>
            </a:lvl2pPr>
            <a:lvl3pPr marL="2851831" indent="0">
              <a:buNone/>
              <a:defRPr sz="3743"/>
            </a:lvl3pPr>
            <a:lvl4pPr marL="4277746" indent="0">
              <a:buNone/>
              <a:defRPr sz="3119"/>
            </a:lvl4pPr>
            <a:lvl5pPr marL="5703661" indent="0">
              <a:buNone/>
              <a:defRPr sz="3119"/>
            </a:lvl5pPr>
            <a:lvl6pPr marL="7129577" indent="0">
              <a:buNone/>
              <a:defRPr sz="3119"/>
            </a:lvl6pPr>
            <a:lvl7pPr marL="8555492" indent="0">
              <a:buNone/>
              <a:defRPr sz="3119"/>
            </a:lvl7pPr>
            <a:lvl8pPr marL="9981408" indent="0">
              <a:buNone/>
              <a:defRPr sz="3119"/>
            </a:lvl8pPr>
            <a:lvl9pPr marL="11407323" indent="0">
              <a:buNone/>
              <a:defRPr sz="31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5483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53318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734"/>
            <a:ext cx="6528093" cy="181256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734"/>
            <a:ext cx="19205838" cy="181256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15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738"/>
            <a:ext cx="26112371" cy="4134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3668"/>
            <a:ext cx="26112371" cy="1357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23872"/>
            <a:ext cx="6811923" cy="1138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3C17C-C6A5-E64D-B4AB-5445F19A2468}" type="datetimeFigureOut">
              <a:rPr lang="en-DE" smtClean="0"/>
              <a:t>06/09/2026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23872"/>
            <a:ext cx="10217884" cy="1138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23872"/>
            <a:ext cx="6811923" cy="1138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961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51831" rtl="0" eaLnBrk="1" latinLnBrk="0" hangingPunct="1">
        <a:lnSpc>
          <a:spcPct val="90000"/>
        </a:lnSpc>
        <a:spcBef>
          <a:spcPct val="0"/>
        </a:spcBef>
        <a:buNone/>
        <a:defRPr sz="137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958" indent="-712958" algn="l" defTabSz="2851831" rtl="0" eaLnBrk="1" latinLnBrk="0" hangingPunct="1">
        <a:lnSpc>
          <a:spcPct val="90000"/>
        </a:lnSpc>
        <a:spcBef>
          <a:spcPts val="3119"/>
        </a:spcBef>
        <a:buFont typeface="Arial" panose="020B0604020202020204" pitchFamily="34" charset="0"/>
        <a:buChar char="•"/>
        <a:defRPr sz="8733" kern="1200">
          <a:solidFill>
            <a:schemeClr val="tx1"/>
          </a:solidFill>
          <a:latin typeface="+mn-lt"/>
          <a:ea typeface="+mn-ea"/>
          <a:cs typeface="+mn-cs"/>
        </a:defRPr>
      </a:lvl1pPr>
      <a:lvl2pPr marL="2138873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5" kern="1200">
          <a:solidFill>
            <a:schemeClr val="tx1"/>
          </a:solidFill>
          <a:latin typeface="+mn-lt"/>
          <a:ea typeface="+mn-ea"/>
          <a:cs typeface="+mn-cs"/>
        </a:defRPr>
      </a:lvl2pPr>
      <a:lvl3pPr marL="3564788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8" kern="1200">
          <a:solidFill>
            <a:schemeClr val="tx1"/>
          </a:solidFill>
          <a:latin typeface="+mn-lt"/>
          <a:ea typeface="+mn-ea"/>
          <a:cs typeface="+mn-cs"/>
        </a:defRPr>
      </a:lvl3pPr>
      <a:lvl4pPr marL="4990704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4pPr>
      <a:lvl5pPr marL="6416619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5pPr>
      <a:lvl6pPr marL="7842534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6pPr>
      <a:lvl7pPr marL="9268450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7pPr>
      <a:lvl8pPr marL="10694365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8pPr>
      <a:lvl9pPr marL="12120281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1pPr>
      <a:lvl2pPr marL="1425915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2pPr>
      <a:lvl3pPr marL="2851831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3pPr>
      <a:lvl4pPr marL="4277746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4pPr>
      <a:lvl5pPr marL="5703661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5pPr>
      <a:lvl6pPr marL="7129577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6pPr>
      <a:lvl7pPr marL="8555492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7pPr>
      <a:lvl8pPr marL="9981408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8pPr>
      <a:lvl9pPr marL="11407323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EB2A20-B902-6E83-A203-9D06366AB5A9}"/>
              </a:ext>
            </a:extLst>
          </p:cNvPr>
          <p:cNvSpPr/>
          <p:nvPr/>
        </p:nvSpPr>
        <p:spPr>
          <a:xfrm>
            <a:off x="4736352" y="19252"/>
            <a:ext cx="25538860" cy="273849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/>
              <a:t>Northern Hemisphere LGM Ice-Sheet Reconstruction with Yelmo Forced by CLIMBER-X</a:t>
            </a:r>
            <a:endParaRPr lang="en-DE" sz="7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54383-8112-C907-ED96-5776DDC3D6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45" r="15916" b="11475"/>
          <a:stretch>
            <a:fillRect/>
          </a:stretch>
        </p:blipFill>
        <p:spPr>
          <a:xfrm>
            <a:off x="0" y="179344"/>
            <a:ext cx="4736352" cy="2946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54BF52-4722-3BDD-8469-4CC53AC2F725}"/>
              </a:ext>
            </a:extLst>
          </p:cNvPr>
          <p:cNvSpPr txBox="1"/>
          <p:nvPr/>
        </p:nvSpPr>
        <p:spPr>
          <a:xfrm>
            <a:off x="11455650" y="6707210"/>
            <a:ext cx="6745573" cy="2008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Mahé Perrette, Britta Grusdt, Thom Laepple, Alexander Robinson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286C2-30DE-1C57-EE57-C2EFF281D91C}"/>
              </a:ext>
            </a:extLst>
          </p:cNvPr>
          <p:cNvSpPr txBox="1"/>
          <p:nvPr/>
        </p:nvSpPr>
        <p:spPr>
          <a:xfrm>
            <a:off x="14099538" y="7188303"/>
            <a:ext cx="9036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LGM data assimilation : a systematic sensitivity analysis</a:t>
            </a:r>
          </a:p>
        </p:txBody>
      </p:sp>
      <p:sp>
        <p:nvSpPr>
          <p:cNvPr id="4" name="Rechteck 14">
            <a:extLst>
              <a:ext uri="{FF2B5EF4-FFF2-40B4-BE49-F238E27FC236}">
                <a16:creationId xmlns:a16="http://schemas.microsoft.com/office/drawing/2014/main" id="{0297527D-16D1-ADF4-6E1B-F6730907FE62}"/>
              </a:ext>
            </a:extLst>
          </p:cNvPr>
          <p:cNvSpPr/>
          <p:nvPr/>
        </p:nvSpPr>
        <p:spPr>
          <a:xfrm>
            <a:off x="4736352" y="2390274"/>
            <a:ext cx="21493468" cy="367476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 </a:t>
            </a:r>
            <a:r>
              <a:rPr lang="de-DE" sz="2800" dirty="0"/>
              <a:t>Ahmadreza Masoum, Matteo </a:t>
            </a:r>
            <a:r>
              <a:rPr lang="de-DE" sz="2800" dirty="0" err="1"/>
              <a:t>Willeit</a:t>
            </a:r>
            <a:r>
              <a:rPr lang="de-DE" sz="2800" dirty="0"/>
              <a:t>, Alexander Robinson</a:t>
            </a:r>
            <a:endParaRPr lang="de-DE" dirty="0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B71163C9-FBB7-0B1A-B6F8-BC1BE555C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135" y="3251272"/>
            <a:ext cx="9402580" cy="8987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Goals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Reconstruct NH ice sheets during the LGM using the ice-sheet model Yelmo interactively coupled with CLIMBER-X.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Bridge the gap between observation-based ice-sheet reconstructions and physically consistent coupled climate–ice-sheet simulations.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Evaluate the simulated LGM ice-sheet extent against the geomorphological reconstruction.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Identify regions of agreement and mismatch to guide future improvements in coupled ice-sheet reconstruction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000F6383-0F72-6141-50F2-56EE184B9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3992" y="3315094"/>
            <a:ext cx="11254045" cy="11798102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SMB Scheme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500" dirty="0">
                <a:solidFill>
                  <a:schemeClr val="accent1">
                    <a:lumMod val="75000"/>
                  </a:schemeClr>
                </a:solidFill>
              </a:rPr>
              <a:t>The surface mass balance is parameterized using a prescribed snow-line elevation based on latitude, atmospheric CO₂ concentration, and orbital forcing.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35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500" dirty="0">
                <a:solidFill>
                  <a:schemeClr val="accent1">
                    <a:lumMod val="75000"/>
                  </a:schemeClr>
                </a:solidFill>
              </a:rPr>
              <a:t>For each grid cell, SMB depends on the elevation difference between the surface elevation and the estimated snow line.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35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500" dirty="0">
                <a:solidFill>
                  <a:schemeClr val="accent1">
                    <a:lumMod val="75000"/>
                  </a:schemeClr>
                </a:solidFill>
              </a:rPr>
              <a:t>Separate SMB equations are applied above and below the snow line, with an additional correction using the paleo-informed ice-margin mask from Batchelor et al. (2019).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35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500" dirty="0">
                <a:solidFill>
                  <a:schemeClr val="accent1">
                    <a:lumMod val="75000"/>
                  </a:schemeClr>
                </a:solidFill>
              </a:rPr>
              <a:t>A  relatively realistic, parameterized SMB scheme nudges ice growth toward the target LGM extent while allowing Yelmo to evolve dynamically.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500" baseline="-25000" dirty="0">
              <a:solidFill>
                <a:schemeClr val="accent1">
                  <a:lumMod val="75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500" baseline="-250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5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0B72C2A-D63A-B53C-39F8-7D7ADCC6C72F}"/>
              </a:ext>
            </a:extLst>
          </p:cNvPr>
          <p:cNvGrpSpPr/>
          <p:nvPr/>
        </p:nvGrpSpPr>
        <p:grpSpPr>
          <a:xfrm>
            <a:off x="10234311" y="3315095"/>
            <a:ext cx="8284085" cy="17328267"/>
            <a:chOff x="9749133" y="2788594"/>
            <a:chExt cx="7953138" cy="17788502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6451B97-3A36-F6E3-0C86-C6131590F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49133" y="2788594"/>
              <a:ext cx="7953138" cy="8210225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4CA3176-886A-8DC0-AB54-E5F7DC97A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91701" y="10998819"/>
              <a:ext cx="7910570" cy="9578277"/>
            </a:xfrm>
            <a:prstGeom prst="rect">
              <a:avLst/>
            </a:prstGeom>
          </p:spPr>
        </p:pic>
      </p:grpSp>
      <p:sp>
        <p:nvSpPr>
          <p:cNvPr id="47" name="Rectangle 6">
            <a:extLst>
              <a:ext uri="{FF2B5EF4-FFF2-40B4-BE49-F238E27FC236}">
                <a16:creationId xmlns:a16="http://schemas.microsoft.com/office/drawing/2014/main" id="{FBFF0A19-806D-E67F-7E54-67F1E961D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88" y="12522726"/>
            <a:ext cx="9357527" cy="763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Simulation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chemeClr val="accent1">
                    <a:lumMod val="75000"/>
                  </a:schemeClr>
                </a:solidFill>
              </a:rPr>
              <a:t>Run an ensemble of simulations varying ice-sheet and solid-earth model parameters.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5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500" dirty="0">
                <a:solidFill>
                  <a:schemeClr val="accent1">
                    <a:lumMod val="75000"/>
                  </a:schemeClr>
                </a:solidFill>
              </a:rPr>
              <a:t>Northern Hemisphere 32 km ice-sheet domain.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5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500" dirty="0">
                <a:solidFill>
                  <a:schemeClr val="accent1">
                    <a:lumMod val="75000"/>
                  </a:schemeClr>
                </a:solidFill>
              </a:rPr>
              <a:t>20 </a:t>
            </a:r>
            <a:r>
              <a:rPr lang="en-US" altLang="en-US" sz="3500" dirty="0" err="1">
                <a:solidFill>
                  <a:schemeClr val="accent1">
                    <a:lumMod val="75000"/>
                  </a:schemeClr>
                </a:solidFill>
              </a:rPr>
              <a:t>kyr</a:t>
            </a:r>
            <a:r>
              <a:rPr lang="en-US" altLang="en-US" sz="3500" dirty="0">
                <a:solidFill>
                  <a:schemeClr val="accent1">
                    <a:lumMod val="75000"/>
                  </a:schemeClr>
                </a:solidFill>
              </a:rPr>
              <a:t> simulation starting from LGM boundary conditions.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5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500" dirty="0">
                <a:solidFill>
                  <a:schemeClr val="accent1">
                    <a:lumMod val="75000"/>
                  </a:schemeClr>
                </a:solidFill>
              </a:rPr>
              <a:t>Climate forcing every 10 years.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5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500" dirty="0">
                <a:solidFill>
                  <a:schemeClr val="accent1">
                    <a:lumMod val="75000"/>
                  </a:schemeClr>
                </a:solidFill>
              </a:rPr>
              <a:t>Initialized from GLAC1D/Tarasov LGM geometry; Ice-sheet is then simulated freely by Yelmo.</a:t>
            </a: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0423C81-6B25-ACE5-567B-A7A087064627}"/>
              </a:ext>
            </a:extLst>
          </p:cNvPr>
          <p:cNvSpPr/>
          <p:nvPr/>
        </p:nvSpPr>
        <p:spPr>
          <a:xfrm>
            <a:off x="0" y="20643362"/>
            <a:ext cx="30403800" cy="93315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r>
              <a:rPr lang="en-US" b="1"/>
              <a:t>References: </a:t>
            </a:r>
            <a:r>
              <a:rPr lang="en-US"/>
              <a:t>Batchelor </a:t>
            </a:r>
            <a:r>
              <a:rPr lang="en-US" dirty="0"/>
              <a:t>et al. (2019), Nature communications, 10(1):3713; </a:t>
            </a:r>
            <a:r>
              <a:rPr lang="en-US" dirty="0" err="1"/>
              <a:t>Ganopolski</a:t>
            </a:r>
            <a:r>
              <a:rPr lang="en-US" dirty="0"/>
              <a:t> and </a:t>
            </a:r>
            <a:r>
              <a:rPr lang="en-US" dirty="0" err="1"/>
              <a:t>Brovkin</a:t>
            </a:r>
            <a:r>
              <a:rPr lang="en-US" dirty="0"/>
              <a:t> (2017), Climate of the Past, 13(12), 1695-1716; Robinson et al. (2020), Geoscientific Model Development, 13(6):2805–2823; Tarasov et al. (2012), Earth and Planetary </a:t>
            </a:r>
            <a:r>
              <a:rPr lang="en-US" dirty="0" err="1"/>
              <a:t>ScienceLetters</a:t>
            </a:r>
            <a:r>
              <a:rPr lang="en-US" dirty="0"/>
              <a:t>, 315:30–40; </a:t>
            </a:r>
            <a:r>
              <a:rPr lang="en-US" dirty="0" err="1"/>
              <a:t>Willeit</a:t>
            </a:r>
            <a:r>
              <a:rPr lang="en-US" dirty="0"/>
              <a:t> et al. (2022), Geoscientific Model Development, 15(14):5905–5948.    </a:t>
            </a:r>
          </a:p>
          <a:p>
            <a:endParaRPr lang="en-US" dirty="0"/>
          </a:p>
          <a:p>
            <a:r>
              <a:rPr lang="en-US" dirty="0"/>
              <a:t> </a:t>
            </a:r>
            <a:endParaRPr lang="en-D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54AA5F-CCA4-B961-36B7-EA27A1C42B50}"/>
              </a:ext>
            </a:extLst>
          </p:cNvPr>
          <p:cNvSpPr/>
          <p:nvPr/>
        </p:nvSpPr>
        <p:spPr>
          <a:xfrm>
            <a:off x="9729495" y="3016778"/>
            <a:ext cx="9230158" cy="596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50" dirty="0">
                <a:solidFill>
                  <a:srgbClr val="0070C0"/>
                </a:solidFill>
              </a:rPr>
              <a:t>LGM NH ice sheet margins: Yelmo vs Batchelor et al.(2019)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9A6E0C-8E2D-DE59-D564-00E706FBAA6A}"/>
              </a:ext>
            </a:extLst>
          </p:cNvPr>
          <p:cNvSpPr/>
          <p:nvPr/>
        </p:nvSpPr>
        <p:spPr>
          <a:xfrm>
            <a:off x="10496474" y="11398219"/>
            <a:ext cx="7696200" cy="277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LGM ice-thickness: Yelmo minus GLAC1D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F1A0CBC-7946-09F7-5AAB-CA618D121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8331" y="13241689"/>
            <a:ext cx="1080853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Next Steps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500" b="1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accent1">
                    <a:lumMod val="75000"/>
                  </a:schemeClr>
                </a:solidFill>
              </a:rPr>
              <a:t>Tune SMB parameters to improve the match with reconstructed ice thickness.</a:t>
            </a:r>
            <a:endParaRPr lang="en-US" altLang="en-US" sz="35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accent1">
                    <a:lumMod val="75000"/>
                  </a:schemeClr>
                </a:solidFill>
              </a:rPr>
              <a:t>Test the sensitivity of the reconstructed ice sheets to different Earth viscosity structures.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accent1">
                    <a:lumMod val="75000"/>
                  </a:schemeClr>
                </a:solidFill>
              </a:rPr>
              <a:t>Extend the model–data comparison beyond ice extent by including sea-level and glacial isostatic adjustment constraints.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787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391</Words>
  <Application>Microsoft Office PowerPoint</Application>
  <PresentationFormat>Custom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Robinson</dc:creator>
  <cp:lastModifiedBy>Ahmadreza Masoum</cp:lastModifiedBy>
  <cp:revision>15</cp:revision>
  <cp:lastPrinted>2025-06-04T07:11:42Z</cp:lastPrinted>
  <dcterms:created xsi:type="dcterms:W3CDTF">2025-06-04T06:56:49Z</dcterms:created>
  <dcterms:modified xsi:type="dcterms:W3CDTF">2026-06-09T12:52:11Z</dcterms:modified>
</cp:coreProperties>
</file>